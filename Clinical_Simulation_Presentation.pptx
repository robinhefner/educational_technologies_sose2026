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emf" ContentType="image/x-emf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6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orient="horz" pos="1281" userDrawn="1">
          <p15:clr>
            <a:srgbClr val="A4A3A4"/>
          </p15:clr>
        </p15:guide>
        <p15:guide id="5" orient="horz" pos="3932" userDrawn="1">
          <p15:clr>
            <a:srgbClr val="A4A3A4"/>
          </p15:clr>
        </p15:guide>
        <p15:guide id="6" orient="horz" pos="1110" userDrawn="1">
          <p15:clr>
            <a:srgbClr val="A4A3A4"/>
          </p15:clr>
        </p15:guide>
        <p15:guide id="7" pos="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7628"/>
    <p:restoredTop autoAdjust="0" sz="97912"/>
  </p:normalViewPr>
  <p:slideViewPr>
    <p:cSldViewPr showGuides="1" snapToGrid="0">
      <p:cViewPr varScale="1">
        <p:scale>
          <a:sx d="100" n="111"/>
          <a:sy d="100" n="111"/>
        </p:scale>
        <p:origin x="54" y="54"/>
      </p:cViewPr>
      <p:guideLst>
        <p:guide orient="horz" pos="566"/>
        <p:guide pos="7423"/>
        <p:guide orient="horz" pos="1281"/>
        <p:guide orient="horz" pos="3932"/>
        <p:guide orient="horz" pos="1110"/>
        <p:guide pos="256"/>
      </p:guideLst>
    </p:cSldViewPr>
  </p:slideViewPr>
  <p:notesTextViewPr>
    <p:cViewPr>
      <p:scale>
        <a:sx d="2" n="3"/>
        <a:sy d="2" n="3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" Type="http://schemas.openxmlformats.org/officeDocument/2006/relationships/slideMaster" Target="slideMasters/slideMaster1.xml" /><Relationship Id="rId2" Type="http://schemas.openxmlformats.org/officeDocument/2006/relationships/slideMaster" Target="slideMasters/slideMaster2.xml" /><Relationship Id="rId19" Type="http://schemas.openxmlformats.org/officeDocument/2006/relationships/presProps" Target="presProps.xml" /><Relationship Id="rId20" Type="http://schemas.openxmlformats.org/officeDocument/2006/relationships/viewProps" Target="viewProps.xml" /><Relationship Id="rId21" Type="http://schemas.openxmlformats.org/officeDocument/2006/relationships/theme" Target="theme/theme1.xml" /><Relationship Id="rId22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emf"/><Relationship Id="rId4" Type="http://schemas.openxmlformats.org/officeDocument/2006/relationships/image" Target="../media/image5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emf"/><Relationship Id="rId4" Type="http://schemas.openxmlformats.org/officeDocument/2006/relationships/image" Target="../media/image5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emf"/><Relationship Id="rId4" Type="http://schemas.openxmlformats.org/officeDocument/2006/relationships/image" Target="../media/image5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emf"/><Relationship Id="rId4" Type="http://schemas.openxmlformats.org/officeDocument/2006/relationships/image" Target="../media/image5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emf"/><Relationship Id="rId4" Type="http://schemas.openxmlformats.org/officeDocument/2006/relationships/image" Target="../media/image5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emf"/><Relationship Id="rId6" Type="http://schemas.openxmlformats.org/officeDocument/2006/relationships/image" Target="../media/image9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/Unter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3601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1980001"/>
            <a:chOff x="304800" y="-468001"/>
            <a:chExt cx="10891200" cy="1980001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7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FB462B3-CEB1-499F-9A93-54BFC478EC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6401" y="6984001"/>
            <a:ext cx="7375299" cy="216000"/>
          </a:xfrm>
        </p:spPr>
        <p:txBody>
          <a:bodyPr/>
          <a:lstStyle/>
          <a:p>
            <a:r>
              <a:rPr lang="de-DE" dirty="0"/>
              <a:t>Thema des Referats | Referent / Fakultät / Studiengang |  </a:t>
            </a:r>
            <a:r>
              <a:rPr lang="de-DE" dirty="0" err="1"/>
              <a:t>WiSe</a:t>
            </a:r>
            <a:r>
              <a:rPr lang="de-DE" dirty="0"/>
              <a:t>/</a:t>
            </a:r>
            <a:r>
              <a:rPr lang="de-DE" dirty="0" err="1"/>
              <a:t>SoSe</a:t>
            </a:r>
            <a:r>
              <a:rPr lang="de-DE" dirty="0"/>
              <a:t> 2017/19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AD5C655-E4E0-43F9-B6D2-6069D0E19D5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883778" y="6984001"/>
            <a:ext cx="1899711" cy="216000"/>
          </a:xfrm>
        </p:spPr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C76965CB-8BC6-40F7-9EE1-139D5916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22" name="Vertikaler Textplatzhalter 2">
            <a:extLst>
              <a:ext uri="{FF2B5EF4-FFF2-40B4-BE49-F238E27FC236}">
                <a16:creationId xmlns:a16="http://schemas.microsoft.com/office/drawing/2014/main" id="{33F9B68E-1F14-4F70-9B07-D77470E5CBEB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1386000" y="5311011"/>
            <a:ext cx="10397484" cy="79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lang="de-DE" sz="2400" b="1" i="0" u="none" strike="noStrike" baseline="0" smtClean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Thema des Referats Thema des Referats Thema des Referats Thema des Referats </a:t>
            </a:r>
          </a:p>
        </p:txBody>
      </p:sp>
      <p:sp>
        <p:nvSpPr>
          <p:cNvPr id="23" name="Vertikaler Textplatzhalter 2">
            <a:extLst>
              <a:ext uri="{FF2B5EF4-FFF2-40B4-BE49-F238E27FC236}">
                <a16:creationId xmlns:a16="http://schemas.microsoft.com/office/drawing/2014/main" id="{6354D33E-28C2-47F2-851F-773C0FE0AB9E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1386000" y="6372000"/>
            <a:ext cx="10397489" cy="25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Referent / Fakultät / Studiengang | </a:t>
            </a:r>
            <a:r>
              <a:rPr lang="de-DE" dirty="0" err="1"/>
              <a:t>WiSe</a:t>
            </a:r>
            <a:r>
              <a:rPr lang="de-DE" dirty="0"/>
              <a:t>/</a:t>
            </a:r>
            <a:r>
              <a:rPr lang="de-DE" dirty="0" err="1"/>
              <a:t>SoSe</a:t>
            </a:r>
            <a:r>
              <a:rPr lang="de-DE" dirty="0"/>
              <a:t> 2017/19</a:t>
            </a:r>
          </a:p>
        </p:txBody>
      </p:sp>
      <p:pic>
        <p:nvPicPr>
          <p:cNvPr id="17" name="Logo HHN">
            <a:extLst>
              <a:ext uri="{FF2B5EF4-FFF2-40B4-BE49-F238E27FC236}">
                <a16:creationId xmlns:a16="http://schemas.microsoft.com/office/drawing/2014/main" id="{C84B1A6D-3DF8-4F58-88C7-3F544E41EF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>
            <a:extLst>
              <a:ext uri="{FF2B5EF4-FFF2-40B4-BE49-F238E27FC236}">
                <a16:creationId xmlns:a16="http://schemas.microsoft.com/office/drawing/2014/main" id="{0066C18D-46D1-4FD0-B624-24CB6294D971}"/>
              </a:ext>
            </a:extLst>
          </p:cNvPr>
          <p:cNvSpPr>
            <a:spLocks noGrp="1" noChangeAspect="1"/>
          </p:cNvSpPr>
          <p:nvPr>
            <p:ph type="body" orient="vert" idx="21" hasCustomPrompt="1"/>
          </p:nvPr>
        </p:nvSpPr>
        <p:spPr>
          <a:xfrm>
            <a:off x="1152000" y="4904882"/>
            <a:ext cx="128025" cy="204840"/>
          </a:xfrm>
          <a:blipFill>
            <a:blip r:embed="rId4"/>
            <a:stretch>
              <a:fillRect/>
            </a:stretch>
          </a:blipFill>
        </p:spPr>
        <p:txBody>
          <a:bodyPr vert="horz" wrap="none" tIns="7200" rIns="2574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</p:spTree>
    <p:extLst>
      <p:ext uri="{BB962C8B-B14F-4D97-AF65-F5344CB8AC3E}">
        <p14:creationId xmlns:p14="http://schemas.microsoft.com/office/powerpoint/2010/main" val="22526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30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386000" y="6372000"/>
            <a:ext cx="10398013" cy="252000"/>
          </a:xfrm>
        </p:spPr>
        <p:txBody>
          <a:bodyPr/>
          <a:lstStyle>
            <a:lvl1pPr>
              <a:defRPr sz="1300" b="1" spc="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Thema des Referats | Referent / Fakultät / Studiengang |  </a:t>
            </a:r>
            <a:r>
              <a:rPr lang="de-DE" dirty="0" err="1"/>
              <a:t>WiSe</a:t>
            </a:r>
            <a:r>
              <a:rPr lang="de-DE" dirty="0"/>
              <a:t>/</a:t>
            </a:r>
            <a:r>
              <a:rPr lang="de-DE" dirty="0" err="1"/>
              <a:t>SoSe</a:t>
            </a:r>
            <a:r>
              <a:rPr lang="de-DE" dirty="0"/>
              <a:t> 2017/19</a:t>
            </a:r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6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37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17" name="Logo HHN">
            <a:extLst>
              <a:ext uri="{FF2B5EF4-FFF2-40B4-BE49-F238E27FC236}">
                <a16:creationId xmlns:a16="http://schemas.microsoft.com/office/drawing/2014/main" id="{0D523BEA-89A6-4B17-B26B-DE39D28062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>
            <a:extLst>
              <a:ext uri="{FF2B5EF4-FFF2-40B4-BE49-F238E27FC236}">
                <a16:creationId xmlns:a16="http://schemas.microsoft.com/office/drawing/2014/main" id="{1F5623E0-8437-4337-9981-520C5E63F5F5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>
          <a:xfrm>
            <a:off x="1026073" y="4914407"/>
            <a:ext cx="180000" cy="288000"/>
          </a:xfrm>
          <a:blipFill>
            <a:blip r:embed="rId4"/>
            <a:stretch>
              <a:fillRect/>
            </a:stretch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  <p:sp>
        <p:nvSpPr>
          <p:cNvPr id="20" name="Foliennummernplatzhalter 10">
            <a:extLst>
              <a:ext uri="{FF2B5EF4-FFF2-40B4-BE49-F238E27FC236}">
                <a16:creationId xmlns:a16="http://schemas.microsoft.com/office/drawing/2014/main" id="{F1B52C2C-34E9-4D95-8194-0BDCF58A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140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INSTITUTS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30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-359999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386000" y="6372000"/>
            <a:ext cx="10397484" cy="252000"/>
          </a:xfrm>
        </p:spPr>
        <p:txBody>
          <a:bodyPr/>
          <a:lstStyle>
            <a:lvl1pPr>
              <a:defRPr sz="1300" b="1" spc="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Thema des Referats | Referent / Fakultät / Studiengang |  </a:t>
            </a:r>
            <a:r>
              <a:rPr lang="de-DE" dirty="0" err="1"/>
              <a:t>WiSe</a:t>
            </a:r>
            <a:r>
              <a:rPr lang="de-DE" dirty="0"/>
              <a:t>/</a:t>
            </a:r>
            <a:r>
              <a:rPr lang="de-DE" dirty="0" err="1"/>
              <a:t>SoSe</a:t>
            </a:r>
            <a:r>
              <a:rPr lang="de-DE" dirty="0"/>
              <a:t> 2017/19</a:t>
            </a:r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0"/>
            <a:chExt cx="10891200" cy="7668000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6" name="Fußzeile"/>
            <p:cNvSpPr txBox="1"/>
            <p:nvPr userDrawn="1"/>
          </p:nvSpPr>
          <p:spPr>
            <a:xfrm rot="10800000" flipH="1" flipV="1">
              <a:off x="304800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21" name="Logo HHN">
            <a:extLst>
              <a:ext uri="{FF2B5EF4-FFF2-40B4-BE49-F238E27FC236}">
                <a16:creationId xmlns:a16="http://schemas.microsoft.com/office/drawing/2014/main" id="{3E29E0E6-E9A4-45BD-AC05-6A30C96DF2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24" name="Vertikaler Textplatzhalter 2">
            <a:extLst>
              <a:ext uri="{FF2B5EF4-FFF2-40B4-BE49-F238E27FC236}">
                <a16:creationId xmlns:a16="http://schemas.microsoft.com/office/drawing/2014/main" id="{F57B46E9-4640-4F5B-9593-5773681046DA}"/>
              </a:ext>
            </a:extLst>
          </p:cNvPr>
          <p:cNvSpPr>
            <a:spLocks noGrp="1" noChangeAspect="1"/>
          </p:cNvSpPr>
          <p:nvPr>
            <p:ph type="body" orient="vert" idx="20" hasCustomPrompt="1"/>
          </p:nvPr>
        </p:nvSpPr>
        <p:spPr>
          <a:xfrm>
            <a:off x="1026000" y="4914406"/>
            <a:ext cx="180000" cy="288000"/>
          </a:xfrm>
          <a:blipFill>
            <a:blip r:embed="rId4"/>
            <a:stretch>
              <a:fillRect/>
            </a:stretch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54A18A00-C4DE-4EFB-897C-5FA7DAA4A4D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200" y="30531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PLATZHALTER INSTITUTS-LOGO über den Button Bild einfügen Logo laden 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BA0EB51-026E-42B4-8C5C-5B7C35506F2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622400" y="30470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PLATZHALTER INSTITUTS-LOGO über den Button Bild einfügen Logo laden </a:t>
            </a:r>
          </a:p>
        </p:txBody>
      </p:sp>
      <p:sp>
        <p:nvSpPr>
          <p:cNvPr id="22" name="Foliennummernplatzhalter 10">
            <a:extLst>
              <a:ext uri="{FF2B5EF4-FFF2-40B4-BE49-F238E27FC236}">
                <a16:creationId xmlns:a16="http://schemas.microsoft.com/office/drawing/2014/main" id="{6548D90A-54FB-4C5B-81B4-F47C54D4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407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727085" y="3768205"/>
            <a:ext cx="11056403" cy="1531425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5201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727081" y="5399999"/>
            <a:ext cx="11056403" cy="288000"/>
          </a:xfrm>
        </p:spPr>
        <p:txBody>
          <a:bodyPr/>
          <a:lstStyle>
            <a:lvl1pPr>
              <a:defRPr sz="1500" b="1" spc="8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Thema des Referats | Referent / Fakultät / Studiengang |  </a:t>
            </a:r>
            <a:r>
              <a:rPr lang="de-DE" dirty="0" err="1"/>
              <a:t>WiSe</a:t>
            </a:r>
            <a:r>
              <a:rPr lang="de-DE" dirty="0"/>
              <a:t>/</a:t>
            </a:r>
            <a:r>
              <a:rPr lang="de-DE" dirty="0" err="1"/>
              <a:t>SoSe</a:t>
            </a:r>
            <a:r>
              <a:rPr lang="de-DE" dirty="0"/>
              <a:t> 2017/19</a:t>
            </a:r>
          </a:p>
        </p:txBody>
      </p:sp>
      <p:grpSp>
        <p:nvGrpSpPr>
          <p:cNvPr id="13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4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6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7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8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19" name="Logo HHN">
            <a:extLst>
              <a:ext uri="{FF2B5EF4-FFF2-40B4-BE49-F238E27FC236}">
                <a16:creationId xmlns:a16="http://schemas.microsoft.com/office/drawing/2014/main" id="{89C540CF-8626-4B8A-AECD-DE59103C58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874" y="305319"/>
            <a:ext cx="2064615" cy="697187"/>
          </a:xfrm>
          <a:prstGeom prst="rect">
            <a:avLst/>
          </a:prstGeom>
        </p:spPr>
      </p:pic>
      <p:pic>
        <p:nvPicPr>
          <p:cNvPr id="21" name="Pfeil">
            <a:extLst>
              <a:ext uri="{FF2B5EF4-FFF2-40B4-BE49-F238E27FC236}">
                <a16:creationId xmlns:a16="http://schemas.microsoft.com/office/drawing/2014/main" id="{9B7553C5-A51D-4F5E-A635-F506117CD78D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943332"/>
            <a:ext cx="180000" cy="288000"/>
          </a:xfrm>
          <a:prstGeom prst="rect">
            <a:avLst/>
          </a:prstGeom>
        </p:spPr>
      </p:pic>
      <p:sp>
        <p:nvSpPr>
          <p:cNvPr id="23" name="Foliennummernplatzhalter 10">
            <a:extLst>
              <a:ext uri="{FF2B5EF4-FFF2-40B4-BE49-F238E27FC236}">
                <a16:creationId xmlns:a16="http://schemas.microsoft.com/office/drawing/2014/main" id="{24F3020E-5E4D-4241-944A-A34A6AA4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3917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06405" y="2033591"/>
            <a:ext cx="11377084" cy="42100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17315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5" y="971550"/>
            <a:ext cx="12191999" cy="5886450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 &gt;&gt; Menü &gt; Einfügen &gt; Bilder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0" y="971552"/>
            <a:ext cx="12192000" cy="5886449"/>
          </a:xfrm>
          <a:blipFill>
            <a:blip r:embed="rId2"/>
            <a:stretch>
              <a:fillRect/>
            </a:stretch>
          </a:blipFill>
        </p:spPr>
        <p:txBody>
          <a:bodyPr vert="horz" lIns="1954800" tIns="1389600" rIns="1501200"/>
          <a:lstStyle>
            <a:lvl1pPr>
              <a:lnSpc>
                <a:spcPct val="108000"/>
              </a:lnSpc>
              <a:spcAft>
                <a:spcPts val="0"/>
              </a:spcAft>
              <a:defRPr sz="3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Zitat auf erster Ebene // für Autor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Thema des Referats | Referent / Fakultät / Studiengang |  WiSe/SoSe 2017/19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9883778" y="6515213"/>
            <a:ext cx="1899711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13" name="Regieanweisungen"/>
          <p:cNvGrpSpPr/>
          <p:nvPr userDrawn="1"/>
        </p:nvGrpSpPr>
        <p:grpSpPr>
          <a:xfrm>
            <a:off x="-2352000" y="-468000"/>
            <a:ext cx="17280000" cy="7668001"/>
            <a:chOff x="-1764000" y="-468001"/>
            <a:chExt cx="12960000" cy="7668001"/>
          </a:xfrm>
        </p:grpSpPr>
        <p:sp>
          <p:nvSpPr>
            <p:cNvPr id="14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6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8" name="Text // Listenebene erhöhen"/>
            <p:cNvSpPr txBox="1"/>
            <p:nvPr userDrawn="1"/>
          </p:nvSpPr>
          <p:spPr>
            <a:xfrm>
              <a:off x="-1764000" y="3042062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19" name="Text // Listenebene verringern"/>
            <p:cNvSpPr txBox="1"/>
            <p:nvPr userDrawn="1"/>
          </p:nvSpPr>
          <p:spPr>
            <a:xfrm>
              <a:off x="-1764000" y="3438062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verringern</a:t>
              </a:r>
            </a:p>
          </p:txBody>
        </p:sp>
        <p:sp>
          <p:nvSpPr>
            <p:cNvPr id="20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Absatz &gt; Listenebene erhöhen/verringern</a:t>
              </a:r>
            </a:p>
          </p:txBody>
        </p:sp>
        <p:pic>
          <p:nvPicPr>
            <p:cNvPr id="21" name="Bild // Listenebene verringern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792000" y="3438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Bild // Listenebene erhöhen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792000" y="3042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24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26" name="Logo HHN">
            <a:extLst>
              <a:ext uri="{FF2B5EF4-FFF2-40B4-BE49-F238E27FC236}">
                <a16:creationId xmlns:a16="http://schemas.microsoft.com/office/drawing/2014/main" id="{CD8A692E-F6AC-4E01-99E6-965C59B26C2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  <p:sp>
        <p:nvSpPr>
          <p:cNvPr id="28" name="Titel 9">
            <a:extLst>
              <a:ext uri="{FF2B5EF4-FFF2-40B4-BE49-F238E27FC236}">
                <a16:creationId xmlns:a16="http://schemas.microsoft.com/office/drawing/2014/main" id="{806AA2DC-065A-4166-A62B-2A250A3B3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4080"/>
            <a:ext cx="1321200" cy="1119600"/>
          </a:xfrm>
          <a:blipFill>
            <a:blip r:embed="rId6"/>
            <a:stretch>
              <a:fillRect/>
            </a:stretch>
          </a:blipFill>
        </p:spPr>
        <p:txBody>
          <a:bodyPr wrap="none" rIns="1454400" anchor="t" anchorCtr="0"/>
          <a:lstStyle>
            <a:lvl1pPr algn="r">
              <a:defRPr sz="1000" baseline="0"/>
            </a:lvl1pPr>
          </a:lstStyle>
          <a:p>
            <a:r>
              <a:rPr lang="pt-BR" dirty="0"/>
              <a:t>Bitte nicht</a:t>
            </a:r>
            <a:br>
              <a:rPr lang="pt-BR" dirty="0"/>
            </a:br>
            <a:r>
              <a:rPr lang="pt-BR" dirty="0"/>
              <a:t>verschieben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1501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5" y="2033700"/>
            <a:ext cx="11377084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Kurze Info zum Inhalt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405" y="2565404"/>
            <a:ext cx="5592519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4" hasCustomPrompt="1"/>
          </p:nvPr>
        </p:nvSpPr>
        <p:spPr>
          <a:xfrm>
            <a:off x="6192002" y="2565404"/>
            <a:ext cx="5591487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431733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fo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0" y="2033700"/>
            <a:ext cx="11377085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Kurze Info zum Inhalt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405" y="2565404"/>
            <a:ext cx="11377084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</p:txBody>
      </p:sp>
    </p:spTree>
    <p:extLst>
      <p:ext uri="{BB962C8B-B14F-4D97-AF65-F5344CB8AC3E}">
        <p14:creationId xmlns:p14="http://schemas.microsoft.com/office/powerpoint/2010/main" val="1814554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54071D8-9D4F-4737-9753-5A4E095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FA9BD1D-40AC-4766-9D87-7CD9F93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7C7B69-B03E-4D33-9FE9-AB156C53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1056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7"/>
          <a:stretch/>
        </p:blipFill>
        <p:spPr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Thema des Referats | Referent / Fakultät / Studiengang |  WiSe/SoSe 2017/19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2088000" y="4284000"/>
            <a:ext cx="9695489" cy="1959639"/>
          </a:xfrm>
        </p:spPr>
        <p:txBody>
          <a:bodyPr vert="horz"/>
          <a:lstStyle>
            <a:lvl1pPr marL="0" marR="0" indent="0" algn="l" defTabSz="91440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999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Bei Fragen kontaktieren Sie bitte:</a:t>
            </a:r>
            <a:br>
              <a:rPr lang="de-DE" dirty="0"/>
            </a:br>
            <a:r>
              <a:rPr lang="de-DE" dirty="0"/>
              <a:t>Vorname Nachname (Menü &gt; Listenebne erhöhen)</a:t>
            </a:r>
            <a:br>
              <a:rPr lang="de-DE" dirty="0"/>
            </a:br>
            <a:r>
              <a:rPr lang="de-DE" dirty="0"/>
              <a:t>Fakultät XY | Fachrichtung </a:t>
            </a:r>
            <a:br>
              <a:rPr lang="de-DE" dirty="0"/>
            </a:br>
            <a:r>
              <a:rPr lang="de-DE" dirty="0"/>
              <a:t>meike.muster@hs-heilbronn.de</a:t>
            </a:r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4" hasCustomPrompt="1"/>
          </p:nvPr>
        </p:nvSpPr>
        <p:spPr>
          <a:xfrm>
            <a:off x="2087996" y="2097092"/>
            <a:ext cx="9695489" cy="1915337"/>
          </a:xfrm>
        </p:spPr>
        <p:txBody>
          <a:bodyPr vert="horz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30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Schlusswort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BCE84AFA-A866-402D-A07B-4A22F5614A5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576000" y="4716000"/>
            <a:ext cx="1080000" cy="10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2983600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54071D8-9D4F-4737-9753-5A4E095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TechCampus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FA9BD1D-40AC-4766-9D87-7CD9F93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7C7B69-B03E-4D33-9FE9-AB156C53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635105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slideLayouts/slideLayout12.xml" Type="http://schemas.openxmlformats.org/officeDocument/2006/relationships/slideLayout" /><Relationship Id="rId13" Target="../slideLayouts/slideLayout13.xml" Type="http://schemas.openxmlformats.org/officeDocument/2006/relationships/slideLayout" /><Relationship Id="rId14" Target="../theme/theme1.xml" Type="http://schemas.openxmlformats.org/officeDocument/2006/relationships/theme" /><Relationship Id="rId15" Target="../media/image1.png" Type="http://schemas.openxmlformats.org/officeDocument/2006/relationships/image" /><Relationship Id="rId16" Target="../media/image2.png" Type="http://schemas.openxmlformats.org/officeDocument/2006/relationships/image" /><Relationship Id="rId17" Target="../media/image3.emf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>
            <a:xfrm flipH="1" flipV="1" rot="10800000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b" anchorCtr="0" bIns="0" lIns="0" rIns="0" rtlCol="0" tIns="0" vert="horz" wrap="square">
              <a:noAutofit/>
            </a:bodyPr>
            <a:lstStyle>
              <a:defPPr>
                <a:defRPr lang="de-DE"/>
              </a:defPPr>
              <a:lvl1pPr algn="l" defTabSz="1043056" eaLnBrk="1" hangingPunct="1" latinLnBrk="0" marL="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1043056" eaLnBrk="1" hangingPunct="1" latinLnBrk="0" marL="52152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1043056" eaLnBrk="1" hangingPunct="1" latinLnBrk="0" marL="104305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1043056" eaLnBrk="1" hangingPunct="1" latinLnBrk="0" marL="156458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1043056" eaLnBrk="1" hangingPunct="1" latinLnBrk="0" marL="2086112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1043056" eaLnBrk="1" hangingPunct="1" latinLnBrk="0" marL="260764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1043056" eaLnBrk="1" hangingPunct="1" latinLnBrk="0" marL="312916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1043056" eaLnBrk="1" hangingPunct="1" latinLnBrk="0" marL="365069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1043056" eaLnBrk="1" hangingPunct="1" latinLnBrk="0" marL="417222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287143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0" baseline="0" cap="none" dirty="0" i="0" kern="1200" kumimoji="0" lang="de-DE" noProof="0" normalizeH="0" spc="0" strike="noStrike" sz="1000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algn="r" defTabSz="287143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1" baseline="0" cap="none" dirty="0" i="0" kern="1200" kumimoji="0" lang="de-DE" noProof="0" normalizeH="0" spc="0" strike="noStrike" sz="1000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b="0" baseline="0" cap="none" dirty="0" i="0" kern="1200" kumimoji="0" lang="de-DE" noProof="0" normalizeH="0" spc="0" strike="noStrike" sz="1000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b="1" baseline="0" cap="none" dirty="0" i="0" kern="1200" kumimoji="0" lang="de-DE" noProof="0" normalizeH="0" spc="0" strike="noStrike" sz="1000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b="0" baseline="0" cap="none" dirty="0" i="0" kern="1200" kumimoji="0" lang="de-DE" noProof="0" normalizeH="0" spc="0" strike="noStrike" sz="1000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b="1" baseline="0" cap="none" dirty="0" i="0" kern="1200" kumimoji="0" lang="de-DE" noProof="0" normalizeH="0" spc="0" strike="noStrike" sz="1000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b="0" baseline="0" cap="none" dirty="0" i="0" kern="1200" kumimoji="0" lang="de-DE" noProof="0" normalizeH="0" spc="0" strike="noStrike" sz="1000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/>
            <p:cNvSpPr txBox="1"/>
            <p:nvPr userDrawn="1"/>
          </p:nvSpPr>
          <p:spPr>
            <a:xfrm flipH="1" flipV="1" rot="10800000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 bIns="0" lIns="0" rIns="0" rtlCol="0" tIns="0" vert="horz" wrap="square">
              <a:noAutofit/>
            </a:bodyPr>
            <a:lstStyle>
              <a:defPPr>
                <a:defRPr lang="de-DE"/>
              </a:defPPr>
              <a:lvl1pPr algn="l" defTabSz="1043056" eaLnBrk="1" hangingPunct="1" latinLnBrk="0" marL="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1043056" eaLnBrk="1" hangingPunct="1" latinLnBrk="0" marL="52152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1043056" eaLnBrk="1" hangingPunct="1" latinLnBrk="0" marL="104305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1043056" eaLnBrk="1" hangingPunct="1" latinLnBrk="0" marL="156458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1043056" eaLnBrk="1" hangingPunct="1" latinLnBrk="0" marL="2086112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1043056" eaLnBrk="1" hangingPunct="1" latinLnBrk="0" marL="260764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1043056" eaLnBrk="1" hangingPunct="1" latinLnBrk="0" marL="312916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1043056" eaLnBrk="1" hangingPunct="1" latinLnBrk="0" marL="365069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1043056" eaLnBrk="1" hangingPunct="1" latinLnBrk="0" marL="417222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baseline="0" dirty="0" lang="de-DE" sz="100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algn="l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baseline="0" dirty="0" lang="de-DE" sz="100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algn="l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4" name="Layoutwechsel"/>
            <p:cNvSpPr txBox="1"/>
            <p:nvPr userDrawn="1"/>
          </p:nvSpPr>
          <p:spPr>
            <a:xfrm flipH="1" flipV="1" rot="10800000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 bIns="0" lIns="0" rIns="0" rtlCol="0" tIns="0" vert="horz" wrap="square">
              <a:noAutofit/>
            </a:bodyPr>
            <a:lstStyle>
              <a:defPPr>
                <a:defRPr lang="de-DE"/>
              </a:defPPr>
              <a:lvl1pPr algn="l" defTabSz="1043056" eaLnBrk="1" hangingPunct="1" latinLnBrk="0" marL="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1043056" eaLnBrk="1" hangingPunct="1" latinLnBrk="0" marL="52152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1043056" eaLnBrk="1" hangingPunct="1" latinLnBrk="0" marL="104305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1043056" eaLnBrk="1" hangingPunct="1" latinLnBrk="0" marL="156458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1043056" eaLnBrk="1" hangingPunct="1" latinLnBrk="0" marL="2086112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1043056" eaLnBrk="1" hangingPunct="1" latinLnBrk="0" marL="260764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1043056" eaLnBrk="1" hangingPunct="1" latinLnBrk="0" marL="312916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1043056" eaLnBrk="1" hangingPunct="1" latinLnBrk="0" marL="365069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1043056" eaLnBrk="1" hangingPunct="1" latinLnBrk="0" marL="417222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baseline="0" dirty="0" lang="de-DE" sz="100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b="0" baseline="0" dirty="0" lang="de-DE" sz="1000">
                  <a:solidFill>
                    <a:schemeClr val="tx1"/>
                  </a:solidFill>
                  <a:latin typeface="+mn-lt"/>
                </a:rPr>
              </a:br>
              <a:r>
                <a:rPr b="0" baseline="0" dirty="0" lang="de-DE" sz="100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algn="l" defTabSz="251725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5" name="Text // Listenebene erhöhen"/>
            <p:cNvSpPr txBox="1"/>
            <p:nvPr userDrawn="1"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anchor="ctr" anchorCtr="0" bIns="0" lIns="0" rIns="0" rtlCol="0" tIns="0" wrap="square">
              <a:noAutofit/>
            </a:bodyPr>
            <a:lstStyle/>
            <a:p>
              <a:pPr algn="r" defTabSz="251725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algn="r" defTabSz="251725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16" name="Text // Listenebene verringern"/>
            <p:cNvSpPr txBox="1"/>
            <p:nvPr userDrawn="1"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anchor="ctr" anchorCtr="0" bIns="0" lIns="0" rIns="0" rtlCol="0" tIns="0" wrap="square">
              <a:noAutofit/>
            </a:bodyPr>
            <a:lstStyle/>
            <a:p>
              <a:pPr algn="r" defTabSz="251725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algn="r" defTabSz="251725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verringern</a:t>
              </a:r>
            </a:p>
          </p:txBody>
        </p:sp>
        <p:sp>
          <p:nvSpPr>
            <p:cNvPr id="17" name="Listenebenen"/>
            <p:cNvSpPr txBox="1"/>
            <p:nvPr userDrawn="1"/>
          </p:nvSpPr>
          <p:spPr>
            <a:xfrm flipH="1" flipV="1" rot="10800000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 bIns="0" lIns="0" rIns="0" rtlCol="0" tIns="0" vert="horz" wrap="square">
              <a:noAutofit/>
            </a:bodyPr>
            <a:lstStyle>
              <a:defPPr>
                <a:defRPr lang="de-DE"/>
              </a:defPPr>
              <a:lvl1pPr algn="l" defTabSz="1043056" eaLnBrk="1" hangingPunct="1" latinLnBrk="0" marL="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1043056" eaLnBrk="1" hangingPunct="1" latinLnBrk="0" marL="52152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1043056" eaLnBrk="1" hangingPunct="1" latinLnBrk="0" marL="104305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1043056" eaLnBrk="1" hangingPunct="1" latinLnBrk="0" marL="156458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1043056" eaLnBrk="1" hangingPunct="1" latinLnBrk="0" marL="2086112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1043056" eaLnBrk="1" hangingPunct="1" latinLnBrk="0" marL="260764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1043056" eaLnBrk="1" hangingPunct="1" latinLnBrk="0" marL="312916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1043056" eaLnBrk="1" hangingPunct="1" latinLnBrk="0" marL="365069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1043056" eaLnBrk="1" hangingPunct="1" latinLnBrk="0" marL="417222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251725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0" baseline="0" dirty="0" lang="de-DE" sz="1000">
                  <a:solidFill>
                    <a:schemeClr val="tx1"/>
                  </a:solidFill>
                  <a:latin typeface="+mn-lt"/>
                </a:rPr>
                <a:t>Wechsel der Textebene</a:t>
              </a:r>
            </a:p>
            <a:p>
              <a:pPr algn="r" defTabSz="251725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0" baseline="0" dirty="0" lang="de-DE" sz="1000">
                  <a:solidFill>
                    <a:schemeClr val="tx1"/>
                  </a:solidFill>
                  <a:latin typeface="+mn-lt"/>
                </a:rPr>
                <a:t>im Menü über: </a:t>
              </a:r>
              <a:br>
                <a:rPr b="0" baseline="0" dirty="0" lang="de-DE" sz="1000">
                  <a:solidFill>
                    <a:schemeClr val="tx1"/>
                  </a:solidFill>
                  <a:latin typeface="+mn-lt"/>
                </a:rPr>
              </a:b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Start &gt; Absatz &gt; Listenebene erhöhen/verringern</a:t>
              </a:r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>
            <a:xfrm flipH="1" flipV="1" rot="10800000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 bIns="0" lIns="0" rIns="0" rtlCol="0" tIns="0" vert="horz" wrap="square">
              <a:noAutofit/>
            </a:bodyPr>
            <a:lstStyle>
              <a:defPPr>
                <a:defRPr lang="de-DE"/>
              </a:defPPr>
              <a:lvl1pPr algn="l" defTabSz="1043056" eaLnBrk="1" hangingPunct="1" latinLnBrk="0" marL="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1043056" eaLnBrk="1" hangingPunct="1" latinLnBrk="0" marL="52152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1043056" eaLnBrk="1" hangingPunct="1" latinLnBrk="0" marL="104305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1043056" eaLnBrk="1" hangingPunct="1" latinLnBrk="0" marL="156458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1043056" eaLnBrk="1" hangingPunct="1" latinLnBrk="0" marL="2086112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1043056" eaLnBrk="1" hangingPunct="1" latinLnBrk="0" marL="260764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1043056" eaLnBrk="1" hangingPunct="1" latinLnBrk="0" marL="312916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1043056" eaLnBrk="1" hangingPunct="1" latinLnBrk="0" marL="365069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1043056" eaLnBrk="1" hangingPunct="1" latinLnBrk="0" marL="417222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287143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0" baseline="0" dirty="0" lang="de-DE" sz="100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21" name="Kopfzeile"/>
            <p:cNvSpPr txBox="1"/>
            <p:nvPr userDrawn="1"/>
          </p:nvSpPr>
          <p:spPr>
            <a:xfrm flipH="1" flipV="1" rot="10800000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b" anchorCtr="0" bIns="0" lIns="0" rIns="0" rtlCol="0" tIns="0" vert="horz" wrap="square">
              <a:noAutofit/>
            </a:bodyPr>
            <a:lstStyle>
              <a:defPPr>
                <a:defRPr lang="de-DE"/>
              </a:defPPr>
              <a:lvl1pPr algn="l" defTabSz="1043056" eaLnBrk="1" hangingPunct="1" latinLnBrk="0" marL="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1043056" eaLnBrk="1" hangingPunct="1" latinLnBrk="0" marL="52152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1043056" eaLnBrk="1" hangingPunct="1" latinLnBrk="0" marL="104305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1043056" eaLnBrk="1" hangingPunct="1" latinLnBrk="0" marL="156458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1043056" eaLnBrk="1" hangingPunct="1" latinLnBrk="0" marL="2086112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1043056" eaLnBrk="1" hangingPunct="1" latinLnBrk="0" marL="2607640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1043056" eaLnBrk="1" hangingPunct="1" latinLnBrk="0" marL="3129168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1043056" eaLnBrk="1" hangingPunct="1" latinLnBrk="0" marL="3650696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1043056" eaLnBrk="1" hangingPunct="1" latinLnBrk="0" marL="4172224" rtl="0">
                <a:defRPr kern="1200"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2871433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b="0" baseline="0" dirty="0" lang="de-DE" sz="100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b="1" baseline="0" dirty="0" lang="de-DE" sz="100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cxnSp>
        <p:nvCxnSpPr>
          <p:cNvPr id="12" name="Footerlinie"/>
          <p:cNvCxnSpPr/>
          <p:nvPr/>
        </p:nvCxnSpPr>
        <p:spPr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eaderlinie"/>
          <p:cNvCxnSpPr/>
          <p:nvPr/>
        </p:nvCxnSpPr>
        <p:spPr>
          <a:xfrm>
            <a:off x="406400" y="1800000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06405" y="898525"/>
            <a:ext cx="11377084" cy="8636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pt-BR"/>
              <a:t>Headline einfügen</a:t>
            </a:r>
            <a:br>
              <a:rPr dirty="0" lang="pt-BR"/>
            </a:br>
            <a:r>
              <a:rPr dirty="0" lang="pt-BR"/>
              <a:t>über zwei Zeilen</a:t>
            </a:r>
            <a:endParaRPr dirty="0" lang="de-DE"/>
          </a:p>
        </p:txBody>
      </p:sp>
      <p:sp>
        <p:nvSpPr>
          <p:cNvPr id="3" name="Textplatzhalter 2"/>
          <p:cNvSpPr>
            <a:spLocks noGrp="1"/>
          </p:cNvSpPr>
          <p:nvPr>
            <p:ph idx="1" type="body"/>
          </p:nvPr>
        </p:nvSpPr>
        <p:spPr>
          <a:xfrm>
            <a:off x="406402" y="2033591"/>
            <a:ext cx="11377084" cy="4210049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  <a:p>
            <a:pPr lvl="5"/>
            <a:r>
              <a:rPr dirty="0" lang="de-DE"/>
              <a:t>Sechste Ebene</a:t>
            </a:r>
          </a:p>
          <a:p>
            <a:pPr lvl="6"/>
            <a:r>
              <a:rPr dirty="0" lang="de-DE"/>
              <a:t>Siebte Ebene</a:t>
            </a:r>
          </a:p>
          <a:p>
            <a:pPr lvl="7"/>
            <a:r>
              <a:rPr dirty="0" lang="de-DE"/>
              <a:t>Achte Ebene</a:t>
            </a:r>
          </a:p>
          <a:p>
            <a:pPr lvl="8"/>
            <a:r>
              <a:rPr dirty="0" lang="de-DE"/>
              <a:t>Neunte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idx="2" sz="half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l" indent="0" marL="0">
              <a:lnSpc>
                <a:spcPct val="100000"/>
              </a:lnSpc>
              <a:spcBef>
                <a:spcPts val="0"/>
              </a:spcBef>
              <a:buFont charset="0" panose="020B0604020202020204" pitchFamily="34" typeface="Arial"/>
              <a:buNone/>
              <a:defRPr b="1" baseline="0" spc="40" sz="1000">
                <a:solidFill>
                  <a:schemeClr val="tx1"/>
                </a:solidFill>
                <a:latin typeface="+mj-lt"/>
              </a:defRPr>
            </a:lvl1pPr>
            <a:lvl2pPr algn="l" marL="0">
              <a:lnSpc>
                <a:spcPct val="100000"/>
              </a:lnSpc>
              <a:spcBef>
                <a:spcPts val="0"/>
              </a:spcBef>
              <a:defRPr b="1" baseline="0" spc="40" sz="1000">
                <a:latin typeface="+mj-lt"/>
              </a:defRPr>
            </a:lvl2pPr>
            <a:lvl3pPr algn="l" marL="0">
              <a:lnSpc>
                <a:spcPct val="100000"/>
              </a:lnSpc>
              <a:spcBef>
                <a:spcPts val="0"/>
              </a:spcBef>
              <a:defRPr b="1" baseline="0" spc="40" sz="1000">
                <a:latin typeface="+mj-lt"/>
              </a:defRPr>
            </a:lvl3pPr>
            <a:lvl4pPr algn="l" marL="0">
              <a:lnSpc>
                <a:spcPct val="100000"/>
              </a:lnSpc>
              <a:spcBef>
                <a:spcPts val="0"/>
              </a:spcBef>
              <a:defRPr b="1" baseline="0" spc="40" sz="1000">
                <a:latin typeface="+mj-lt"/>
              </a:defRPr>
            </a:lvl4pPr>
            <a:lvl5pPr algn="l" marL="0">
              <a:lnSpc>
                <a:spcPct val="100000"/>
              </a:lnSpc>
              <a:spcBef>
                <a:spcPts val="0"/>
              </a:spcBef>
              <a:defRPr b="1" baseline="0" spc="40" sz="1000">
                <a:latin typeface="+mj-lt"/>
              </a:defRPr>
            </a:lvl5pPr>
            <a:lvl6pPr algn="l" marL="0">
              <a:lnSpc>
                <a:spcPct val="100000"/>
              </a:lnSpc>
              <a:spcBef>
                <a:spcPts val="0"/>
              </a:spcBef>
              <a:defRPr b="1" baseline="0" spc="40" sz="1000">
                <a:latin typeface="+mj-lt"/>
              </a:defRPr>
            </a:lvl6pPr>
            <a:lvl7pPr algn="l" marL="0">
              <a:lnSpc>
                <a:spcPct val="100000"/>
              </a:lnSpc>
              <a:spcBef>
                <a:spcPts val="0"/>
              </a:spcBef>
              <a:defRPr b="1" baseline="0" spc="40" sz="1000">
                <a:latin typeface="+mj-lt"/>
              </a:defRPr>
            </a:lvl7pPr>
            <a:lvl8pPr algn="l" marL="0">
              <a:lnSpc>
                <a:spcPct val="100000"/>
              </a:lnSpc>
              <a:spcBef>
                <a:spcPts val="0"/>
              </a:spcBef>
              <a:defRPr b="1" baseline="0" spc="40" sz="1000">
                <a:latin typeface="+mj-lt"/>
              </a:defRPr>
            </a:lvl8pPr>
            <a:lvl9pPr algn="l" marL="0">
              <a:lnSpc>
                <a:spcPct val="100000"/>
              </a:lnSpc>
              <a:spcBef>
                <a:spcPts val="0"/>
              </a:spcBef>
              <a:defRPr b="1" baseline="0" spc="40" sz="1000">
                <a:latin typeface="+mj-lt"/>
              </a:defRPr>
            </a:lvl9pPr>
          </a:lstStyle>
          <a:p>
            <a:r>
              <a:rPr lang="de-DE"/>
              <a:t>Campus Sontheim</a:t>
            </a:r>
            <a:endParaRPr dirty="0" lang="de-DE"/>
          </a:p>
        </p:txBody>
      </p:sp>
      <p:sp>
        <p:nvSpPr>
          <p:cNvPr id="5" name="Fußzeilenplatzhalter 4"/>
          <p:cNvSpPr>
            <a:spLocks noGrp="1"/>
          </p:cNvSpPr>
          <p:nvPr>
            <p:ph idx="3" sz="quarter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l" indent="0" marL="0">
              <a:lnSpc>
                <a:spcPct val="100000"/>
              </a:lnSpc>
              <a:spcBef>
                <a:spcPts val="0"/>
              </a:spcBef>
              <a:buFont charset="0" panose="020B0604020202020204" pitchFamily="34" typeface="Arial"/>
              <a:buNone/>
              <a:defRPr b="0" baseline="0" spc="40" sz="1000">
                <a:solidFill>
                  <a:schemeClr val="tx1"/>
                </a:solidFill>
                <a:latin typeface="+mn-lt"/>
              </a:defRPr>
            </a:lvl1pPr>
            <a:lvl2pPr algn="l" marL="0">
              <a:lnSpc>
                <a:spcPct val="100000"/>
              </a:lnSpc>
              <a:spcBef>
                <a:spcPts val="0"/>
              </a:spcBef>
              <a:defRPr b="0" baseline="0" spc="40" sz="1000">
                <a:latin typeface="+mn-lt"/>
              </a:defRPr>
            </a:lvl2pPr>
            <a:lvl3pPr algn="l" marL="0">
              <a:lnSpc>
                <a:spcPct val="100000"/>
              </a:lnSpc>
              <a:spcBef>
                <a:spcPts val="0"/>
              </a:spcBef>
              <a:defRPr b="0" baseline="0" spc="40" sz="1000">
                <a:latin typeface="+mn-lt"/>
              </a:defRPr>
            </a:lvl3pPr>
            <a:lvl4pPr algn="l" marL="0">
              <a:lnSpc>
                <a:spcPct val="100000"/>
              </a:lnSpc>
              <a:spcBef>
                <a:spcPts val="0"/>
              </a:spcBef>
              <a:defRPr b="0" baseline="0" spc="40" sz="1000">
                <a:latin typeface="+mn-lt"/>
              </a:defRPr>
            </a:lvl4pPr>
            <a:lvl5pPr algn="l" marL="0">
              <a:lnSpc>
                <a:spcPct val="100000"/>
              </a:lnSpc>
              <a:spcBef>
                <a:spcPts val="0"/>
              </a:spcBef>
              <a:defRPr b="0" baseline="0" spc="40" sz="1000">
                <a:latin typeface="+mn-lt"/>
              </a:defRPr>
            </a:lvl5pPr>
            <a:lvl6pPr algn="l" marL="0">
              <a:lnSpc>
                <a:spcPct val="100000"/>
              </a:lnSpc>
              <a:spcBef>
                <a:spcPts val="0"/>
              </a:spcBef>
              <a:defRPr b="0" baseline="0" spc="40" sz="1000">
                <a:latin typeface="+mn-lt"/>
              </a:defRPr>
            </a:lvl6pPr>
            <a:lvl7pPr algn="l" marL="0">
              <a:lnSpc>
                <a:spcPct val="100000"/>
              </a:lnSpc>
              <a:spcBef>
                <a:spcPts val="0"/>
              </a:spcBef>
              <a:defRPr b="0" baseline="0" spc="40" sz="1000">
                <a:latin typeface="+mn-lt"/>
              </a:defRPr>
            </a:lvl7pPr>
            <a:lvl8pPr algn="l" marL="0">
              <a:lnSpc>
                <a:spcPct val="100000"/>
              </a:lnSpc>
              <a:spcBef>
                <a:spcPts val="0"/>
              </a:spcBef>
              <a:defRPr b="0" baseline="0" spc="40" sz="1000">
                <a:latin typeface="+mn-lt"/>
              </a:defRPr>
            </a:lvl8pPr>
            <a:lvl9pPr algn="l" marL="0">
              <a:lnSpc>
                <a:spcPct val="100000"/>
              </a:lnSpc>
              <a:spcBef>
                <a:spcPts val="0"/>
              </a:spcBef>
              <a:defRPr b="0" baseline="0" spc="40" sz="1000">
                <a:latin typeface="+mn-lt"/>
              </a:defRPr>
            </a:lvl9pPr>
          </a:lstStyle>
          <a:p>
            <a:r>
              <a:rPr dirty="0" lang="de-DE"/>
              <a:t>Thema des Referats | Referent / Fakultät / Studiengang |  </a:t>
            </a:r>
            <a:r>
              <a:rPr dirty="0" err="1" lang="de-DE"/>
              <a:t>WiSe</a:t>
            </a:r>
            <a:r>
              <a:rPr dirty="0" lang="de-DE"/>
              <a:t>/</a:t>
            </a:r>
            <a:r>
              <a:rPr dirty="0" err="1" lang="de-DE"/>
              <a:t>SoSe</a:t>
            </a:r>
            <a:r>
              <a:rPr dirty="0" lang="de-DE"/>
              <a:t> 2017/19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idx="4" sz="quarter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r" indent="0" marL="0">
              <a:lnSpc>
                <a:spcPct val="100000"/>
              </a:lnSpc>
              <a:spcBef>
                <a:spcPts val="0"/>
              </a:spcBef>
              <a:buFont charset="0" panose="020B0604020202020204" pitchFamily="34" typeface="Arial"/>
              <a:buNone/>
              <a:defRPr b="0" sz="1000">
                <a:solidFill>
                  <a:schemeClr val="tx1"/>
                </a:solidFill>
                <a:latin typeface="+mn-lt"/>
              </a:defRPr>
            </a:lvl1pPr>
            <a:lvl2pPr algn="r" marL="0">
              <a:lnSpc>
                <a:spcPct val="100000"/>
              </a:lnSpc>
              <a:spcBef>
                <a:spcPts val="0"/>
              </a:spcBef>
              <a:defRPr b="0" sz="1000">
                <a:latin typeface="+mn-lt"/>
              </a:defRPr>
            </a:lvl2pPr>
            <a:lvl3pPr algn="r" marL="0">
              <a:lnSpc>
                <a:spcPct val="100000"/>
              </a:lnSpc>
              <a:spcBef>
                <a:spcPts val="0"/>
              </a:spcBef>
              <a:defRPr b="0" sz="1000">
                <a:latin typeface="+mn-lt"/>
              </a:defRPr>
            </a:lvl3pPr>
            <a:lvl4pPr algn="r" marL="0">
              <a:lnSpc>
                <a:spcPct val="100000"/>
              </a:lnSpc>
              <a:spcBef>
                <a:spcPts val="0"/>
              </a:spcBef>
              <a:defRPr b="0" sz="1000">
                <a:latin typeface="+mn-lt"/>
              </a:defRPr>
            </a:lvl4pPr>
            <a:lvl5pPr algn="r" marL="0">
              <a:lnSpc>
                <a:spcPct val="100000"/>
              </a:lnSpc>
              <a:spcBef>
                <a:spcPts val="0"/>
              </a:spcBef>
              <a:defRPr b="0" sz="1000">
                <a:latin typeface="+mn-lt"/>
              </a:defRPr>
            </a:lvl5pPr>
            <a:lvl6pPr algn="r" marL="0">
              <a:lnSpc>
                <a:spcPct val="100000"/>
              </a:lnSpc>
              <a:spcBef>
                <a:spcPts val="0"/>
              </a:spcBef>
              <a:defRPr b="0" sz="1000">
                <a:latin typeface="+mn-lt"/>
              </a:defRPr>
            </a:lvl6pPr>
            <a:lvl7pPr algn="r" marL="0">
              <a:lnSpc>
                <a:spcPct val="100000"/>
              </a:lnSpc>
              <a:spcBef>
                <a:spcPts val="0"/>
              </a:spcBef>
              <a:defRPr b="0" sz="1000">
                <a:latin typeface="+mn-lt"/>
              </a:defRPr>
            </a:lvl7pPr>
            <a:lvl8pPr algn="r" marL="0">
              <a:lnSpc>
                <a:spcPct val="100000"/>
              </a:lnSpc>
              <a:spcBef>
                <a:spcPts val="0"/>
              </a:spcBef>
              <a:defRPr b="0" sz="1000">
                <a:latin typeface="+mn-lt"/>
              </a:defRPr>
            </a:lvl8pPr>
            <a:lvl9pPr algn="r" marL="0">
              <a:lnSpc>
                <a:spcPct val="100000"/>
              </a:lnSpc>
              <a:spcBef>
                <a:spcPts val="0"/>
              </a:spcBef>
              <a:defRPr b="0" sz="1000">
                <a:latin typeface="+mn-lt"/>
              </a:defRPr>
            </a:lvl9pPr>
          </a:lstStyle>
          <a:p>
            <a:r>
              <a:rPr dirty="0"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id="22" name="Logo HHN">
            <a:extLst>
              <a:ext uri="{FF2B5EF4-FFF2-40B4-BE49-F238E27FC236}">
                <a16:creationId xmlns:a16="http://schemas.microsoft.com/office/drawing/2014/main" id="{A53D8DCE-F532-4BEA-B78C-F0F7C4652FE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7339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9" r:id="rId1"/>
    <p:sldLayoutId id="2147483666" r:id="rId2"/>
    <p:sldLayoutId id="2147483670" r:id="rId3"/>
    <p:sldLayoutId id="2147483649" r:id="rId4"/>
    <p:sldLayoutId id="2147483667" r:id="rId5"/>
    <p:sldLayoutId id="2147483650" r:id="rId6"/>
    <p:sldLayoutId id="2147483660" r:id="rId7"/>
    <p:sldLayoutId id="2147483661" r:id="rId8"/>
    <p:sldLayoutId id="2147483662" r:id="rId9"/>
    <p:sldLayoutId id="2147483664" r:id="rId10"/>
    <p:sldLayoutId id="2147483665" r:id="rId11"/>
    <p:sldLayoutId id="2147483654" r:id="rId12"/>
    <p:sldLayoutId id="2147483668" r:id="rId13"/>
  </p:sldLayoutIdLst>
  <p:hf hdr="0"/>
  <p:txStyles>
    <p:titleStyle>
      <a:lvl1pPr algn="l" defTabSz="914407" eaLnBrk="1" hangingPunct="1" indent="0" latinLnBrk="0" marL="0" rtl="0">
        <a:lnSpc>
          <a:spcPct val="94000"/>
        </a:lnSpc>
        <a:spcBef>
          <a:spcPts val="0"/>
        </a:spcBef>
        <a:buFont charset="0" panose="020B0604020202020204" pitchFamily="34" typeface="Arial"/>
        <a:buNone/>
        <a:defRPr b="1" baseline="0" cap="all" kern="1200" spc="120" sz="30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algn="l" defTabSz="914407" eaLnBrk="1" hangingPunct="1" indent="0" latinLnBrk="0" marL="0" rtl="0">
        <a:lnSpc>
          <a:spcPct val="105000"/>
        </a:lnSpc>
        <a:spcBef>
          <a:spcPts val="0"/>
        </a:spcBef>
        <a:spcAft>
          <a:spcPts val="1999"/>
        </a:spcAft>
        <a:buFont charset="0" panose="020B0604020202020204" pitchFamily="34" typeface="Arial"/>
        <a:buNone/>
        <a:tabLst>
          <a:tab algn="l" pos="288003"/>
          <a:tab algn="l" pos="792005"/>
        </a:tabLst>
        <a:defRPr b="0" baseline="0" kern="1200" sz="2201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7" eaLnBrk="1" hangingPunct="1" indent="-288003" latinLnBrk="0" marL="288003" rtl="0">
        <a:lnSpc>
          <a:spcPct val="105000"/>
        </a:lnSpc>
        <a:spcBef>
          <a:spcPts val="599"/>
        </a:spcBef>
        <a:buClr>
          <a:schemeClr val="accent1"/>
        </a:buClr>
        <a:buFont charset="0" panose="020B0604020202020204" pitchFamily="34" typeface="Arial"/>
        <a:buChar char="&gt;"/>
        <a:tabLst>
          <a:tab algn="l" pos="288003"/>
          <a:tab algn="l" pos="792005"/>
        </a:tabLst>
        <a:defRPr b="0" kern="1200" sz="2201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7" eaLnBrk="1" hangingPunct="1" indent="0" latinLnBrk="0" marL="0" rtl="0">
        <a:lnSpc>
          <a:spcPct val="108000"/>
        </a:lnSpc>
        <a:spcBef>
          <a:spcPts val="0"/>
        </a:spcBef>
        <a:spcAft>
          <a:spcPts val="0"/>
        </a:spcAft>
        <a:buFont charset="0" panose="020B0604020202020204" pitchFamily="34" typeface="Arial"/>
        <a:buNone/>
        <a:tabLst>
          <a:tab algn="l" pos="288003"/>
          <a:tab algn="l" pos="792005"/>
        </a:tabLst>
        <a:defRPr b="0" kern="1200" sz="1999">
          <a:solidFill>
            <a:schemeClr val="accent1"/>
          </a:solidFill>
          <a:latin typeface="+mn-lt"/>
          <a:ea typeface="+mn-ea"/>
          <a:cs typeface="+mn-cs"/>
        </a:defRPr>
      </a:lvl3pPr>
      <a:lvl4pPr algn="l" defTabSz="914407" eaLnBrk="1" hangingPunct="1" indent="0" latinLnBrk="0" marL="288003" rtl="0">
        <a:lnSpc>
          <a:spcPct val="108000"/>
        </a:lnSpc>
        <a:spcBef>
          <a:spcPts val="1300"/>
        </a:spcBef>
        <a:spcAft>
          <a:spcPts val="0"/>
        </a:spcAft>
        <a:buFont charset="0" panose="020B0604020202020204" pitchFamily="34" typeface="Arial"/>
        <a:buNone/>
        <a:tabLst>
          <a:tab algn="l" pos="288003"/>
          <a:tab algn="l" pos="792005"/>
        </a:tabLst>
        <a:defRPr b="1" kern="1200" sz="1999">
          <a:solidFill>
            <a:schemeClr val="tx1"/>
          </a:solidFill>
          <a:latin typeface="+mj-lt"/>
          <a:ea typeface="+mn-ea"/>
          <a:cs typeface="+mn-cs"/>
        </a:defRPr>
      </a:lvl4pPr>
      <a:lvl5pPr algn="l" defTabSz="914407" eaLnBrk="1" hangingPunct="1" indent="-288003" latinLnBrk="0" marL="288003" rtl="0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charset="0" panose="020B0604020202020204" pitchFamily="34" typeface="Arial"/>
        <a:buChar char="&gt;"/>
        <a:tabLst>
          <a:tab algn="l" pos="288003"/>
          <a:tab algn="l" pos="792005"/>
        </a:tabLst>
        <a:defRPr b="0" kern="1200" sz="1999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7" eaLnBrk="1" hangingPunct="1" indent="-216001" latinLnBrk="0" marL="504004" rtl="0">
        <a:lnSpc>
          <a:spcPct val="108000"/>
        </a:lnSpc>
        <a:spcBef>
          <a:spcPts val="0"/>
        </a:spcBef>
        <a:spcAft>
          <a:spcPts val="0"/>
        </a:spcAft>
        <a:buFont charset="2" panose="05000000000000000000" pitchFamily="2" typeface="Wingdings"/>
        <a:buChar char=""/>
        <a:tabLst>
          <a:tab algn="l" pos="288003"/>
          <a:tab algn="l" pos="792005"/>
        </a:tabLst>
        <a:defRPr b="0" kern="1200" sz="1999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7" eaLnBrk="1" hangingPunct="1" indent="-288003" latinLnBrk="0" marL="288003" rtl="0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algn="l" pos="288003"/>
          <a:tab algn="l" pos="792005"/>
        </a:tabLst>
        <a:defRPr b="0" kern="1200" sz="1999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7" eaLnBrk="1" hangingPunct="1" indent="0" latinLnBrk="0" marL="288003" rtl="0">
        <a:lnSpc>
          <a:spcPct val="108000"/>
        </a:lnSpc>
        <a:spcBef>
          <a:spcPts val="0"/>
        </a:spcBef>
        <a:spcAft>
          <a:spcPts val="0"/>
        </a:spcAft>
        <a:buFont charset="0" panose="020B0604020202020204" pitchFamily="34" typeface="Arial"/>
        <a:buNone/>
        <a:tabLst>
          <a:tab algn="l" pos="288003"/>
          <a:tab algn="l" pos="792005"/>
        </a:tabLst>
        <a:defRPr b="0" kern="1200" sz="1999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7" eaLnBrk="1" hangingPunct="1" indent="0" latinLnBrk="0" marL="0" rtl="0">
        <a:lnSpc>
          <a:spcPct val="108000"/>
        </a:lnSpc>
        <a:spcBef>
          <a:spcPts val="0"/>
        </a:spcBef>
        <a:spcAft>
          <a:spcPts val="0"/>
        </a:spcAft>
        <a:buFont charset="0" panose="020B0604020202020204" pitchFamily="34" typeface="Arial"/>
        <a:buNone/>
        <a:tabLst>
          <a:tab algn="l" pos="288003"/>
          <a:tab algn="l" pos="792005"/>
        </a:tabLst>
        <a:defRPr b="0" kern="1200" sz="199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7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7" eaLnBrk="1" hangingPunct="1" latinLnBrk="0" marL="457203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7" eaLnBrk="1" hangingPunct="1" latinLnBrk="0" marL="914407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7" eaLnBrk="1" hangingPunct="1" latinLnBrk="0" marL="137161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7" eaLnBrk="1" hangingPunct="1" latinLnBrk="0" marL="1828813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7" eaLnBrk="1" hangingPunct="1" latinLnBrk="0" marL="2286017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7" eaLnBrk="1" hangingPunct="1" latinLnBrk="0" marL="274322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7" eaLnBrk="1" hangingPunct="1" latinLnBrk="0" marL="3200424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7" eaLnBrk="1" hangingPunct="1" latinLnBrk="0" marL="3657627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1281" userDrawn="1">
          <p15:clr>
            <a:srgbClr val="F26B43"/>
          </p15:clr>
        </p15:guide>
        <p15:guide id="4" orient="horz" pos="566" userDrawn="1">
          <p15:clr>
            <a:srgbClr val="F26B43"/>
          </p15:clr>
        </p15:guide>
        <p15:guide id="5" orient="horz" pos="1110" userDrawn="1">
          <p15:clr>
            <a:srgbClr val="F26B43"/>
          </p15:clr>
        </p15:guide>
        <p15:guide id="6" orient="horz" pos="3932" userDrawn="1">
          <p15:clr>
            <a:srgbClr val="F26B43"/>
          </p15:clr>
        </p15:guide>
        <p15:guide id="7" orient="horz" pos="1321" userDrawn="1">
          <p15:clr>
            <a:srgbClr val="547EBF"/>
          </p15:clr>
        </p15:guide>
        <p15:guide id="8" orient="horz" pos="611" userDrawn="1">
          <p15:clr>
            <a:srgbClr val="547EBF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hasCustomPrompt="1" type="ctrTitle"/>
          </p:nvPr>
        </p:nvSpPr>
        <p:spPr>
          <a:xfrm>
            <a:off x="727085" y="3768205"/>
            <a:ext cx="11056403" cy="15314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Clinical Simulation — An eLearning Course for Medical Students</a:t>
            </a:r>
          </a:p>
        </p:txBody>
      </p:sp>
      <p:sp/>
      <p:sp>
        <p:nvSpPr>
          <p:cNvPr id="4" name="Datumsplatzhalter 3"/>
          <p:cNvSpPr>
            <a:spLocks noGrp="1"/>
          </p:cNvSpPr>
          <p:nvPr>
            <p:ph idx="10" sz="half" type="dt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baseline="0" spc="60" sz="1420">
                <a:solidFill>
                  <a:schemeClr val="bg1"/>
                </a:solidFill>
              </a:defRPr>
            </a:lvl1pPr>
          </a:lstStyle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5" name="Fußzeilenplatzhalter 4"/>
          <p:cNvSpPr>
            <a:spLocks noGrp="1"/>
          </p:cNvSpPr>
          <p:nvPr>
            <p:ph idx="11" sz="quarter" type="ftr"/>
          </p:nvPr>
        </p:nvSpPr>
        <p:spPr>
          <a:xfrm>
            <a:off x="727081" y="5399999"/>
            <a:ext cx="11056403" cy="288000"/>
          </a:xfrm>
        </p:spPr>
        <p:txBody>
          <a:bodyPr/>
          <a:lstStyle>
            <a:lvl1pPr>
              <a:defRPr b="1" baseline="0" spc="80" sz="1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dirty="0" lang="de-DE"/>
              <a:t>Thema des Referats | Referent / Fakultät / Studiengang |  </a:t>
            </a:r>
            <a:r>
              <a:rPr dirty="0" err="1" lang="de-DE"/>
              <a:t>WiSe</a:t>
            </a:r>
            <a:r>
              <a:rPr dirty="0" lang="de-DE"/>
              <a:t>/</a:t>
            </a:r>
            <a:r>
              <a:rPr dirty="0" err="1" lang="de-DE"/>
              <a:t>SoSe</a:t>
            </a:r>
            <a:r>
              <a:rPr dirty="0" lang="de-DE"/>
              <a:t> 2017/19</a:t>
            </a:r>
          </a:p>
        </p:txBody>
      </p:sp>
      <p:sp>
        <p:nvSpPr>
          <p:cNvPr id="23" name="Foliennummernplatzhalter 10">
            <a:extLst>
              <a:ext uri="{FF2B5EF4-FFF2-40B4-BE49-F238E27FC236}">
                <a16:creationId xmlns:a16="http://schemas.microsoft.com/office/drawing/2014/main" id="{24F3020E-5E4D-4241-944A-A34A6AA4C94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hasCustomPrompt="1" type="ctrTitle"/>
          </p:nvPr>
        </p:nvSpPr>
        <p:spPr>
          <a:xfrm>
            <a:off x="1530728" y="2160001"/>
            <a:ext cx="10252761" cy="15314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&amp; Overview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Overview &amp; Motivation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Zielsetzung:</a:t>
            </a:r>
            <a:r>
              <a:rPr/>
              <a:t> Interaktive eLearning-Simulation für Medizinstudierende (HTML5-basiert)</a:t>
            </a:r>
          </a:p>
          <a:p>
            <a:pPr lvl="0"/>
            <a:r>
              <a:rPr b="1"/>
              <a:t>Motivation:</a:t>
            </a:r>
            <a:r>
              <a:rPr/>
              <a:t> “Clinical Reasoning” erfordert sichere, realistische Übungsumgebungen abseits von Vorlesungen</a:t>
            </a:r>
          </a:p>
          <a:p>
            <a:pPr lvl="0"/>
            <a:r>
              <a:rPr b="1"/>
              <a:t>Methode:</a:t>
            </a:r>
            <a:r>
              <a:rPr/>
              <a:t> Problem-Based Learning anhand von 10 authentischen klinischen Fällen (z.B. Appendizitis, GERD)</a:t>
            </a:r>
          </a:p>
          <a:p>
            <a:pPr lvl="0"/>
            <a:r>
              <a:rPr b="1"/>
              <a:t>Technologie:</a:t>
            </a:r>
            <a:r>
              <a:rPr/>
              <a:t> Vanilla HTML5, CSS, JavaScript — ohne Frameworks für maximale Zugänglichkeit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Problem-Based Learning (PBL)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Lernendenzentrierte Pädagogik durch authentische, offene Probleme (Barrows, 1986)</a:t>
            </a:r>
          </a:p>
          <a:p>
            <a:pPr lvl="0"/>
            <a:r>
              <a:rPr b="1"/>
              <a:t>Umsetzung:</a:t>
            </a:r>
            <a:r>
              <a:rPr/>
              <a:t> 10 realistische Fälle aus diversen medizinischen Fachrichtungen (Chirurgie, Kardiologie etc.)</a:t>
            </a:r>
          </a:p>
          <a:p>
            <a:pPr lvl="0"/>
            <a:r>
              <a:rPr b="1"/>
              <a:t>Kerndesign:</a:t>
            </a:r>
            <a:r>
              <a:rPr/>
              <a:t> Die Diagnose wird nie vorgegeben — Studierende müssen Anamnese und Diagnostik selbst synthetisieren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Cognitive Apprenticeship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Novizen lernen durch geführte Erfahrungen von Experten (Collins, Brown &amp; Newman, 1989)</a:t>
            </a:r>
          </a:p>
          <a:p>
            <a:pPr lvl="0"/>
            <a:r>
              <a:rPr b="1"/>
              <a:t>Umsetzung:</a:t>
            </a:r>
            <a:r>
              <a:rPr/>
              <a:t> Die Simulation (Notaufnahme) ist die realistische Umgebung</a:t>
            </a:r>
          </a:p>
          <a:p>
            <a:pPr lvl="0"/>
            <a:r>
              <a:rPr b="1"/>
              <a:t>Drei Säulen:</a:t>
            </a:r>
          </a:p>
          <a:p>
            <a:pPr lvl="1"/>
            <a:r>
              <a:rPr/>
              <a:t>Modeling</a:t>
            </a:r>
          </a:p>
          <a:p>
            <a:pPr lvl="1"/>
            <a:r>
              <a:rPr/>
              <a:t>Scaffolding</a:t>
            </a:r>
          </a:p>
          <a:p>
            <a:pPr lvl="1"/>
            <a:r>
              <a:rPr/>
              <a:t>Fading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hasCustomPrompt="1" type="ctrTitle"/>
          </p:nvPr>
        </p:nvSpPr>
        <p:spPr>
          <a:xfrm>
            <a:off x="1530728" y="2160001"/>
            <a:ext cx="10252761" cy="15314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Cognitive Apprenticeship in der Praxis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Modeling: Der Experten-Weg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Das System demonstriert Expertenwissen als konzeptionelles Vorbild</a:t>
            </a:r>
          </a:p>
          <a:p>
            <a:pPr lvl="0"/>
            <a:r>
              <a:rPr b="1"/>
              <a:t>Umsetzung:</a:t>
            </a:r>
            <a:r>
              <a:rPr/>
              <a:t> Die </a:t>
            </a:r>
            <a:r>
              <a:rPr b="1"/>
              <a:t>Feedback-Phase</a:t>
            </a:r>
            <a:r>
              <a:rPr/>
              <a:t> zeigt den “Expert’s Path” nach Abschluss eines Falls</a:t>
            </a:r>
          </a:p>
          <a:p>
            <a:pPr lvl="0"/>
            <a:r>
              <a:rPr b="1"/>
              <a:t>Details:</a:t>
            </a:r>
            <a:r>
              <a:rPr/>
              <a:t> Zeigt exakt, welche Tests ein erfahrener Arzt angeordnet hätte und vergleicht dies mit den studentischen Kosten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Scaffolding (Gerüstbau)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Strukturierte Unterstützung zur Vermeidung kognitiver Überlastung</a:t>
            </a:r>
          </a:p>
          <a:p>
            <a:pPr lvl="0"/>
            <a:r>
              <a:rPr b="1"/>
              <a:t>Umsetzung 1 (Struktur):</a:t>
            </a:r>
            <a:r>
              <a:rPr/>
              <a:t> Strikter 4-Phasen-Ablauf (Anamnese → Diagnostik → Diagnose → Feedback) verhindert Überspringen</a:t>
            </a:r>
          </a:p>
          <a:p>
            <a:pPr lvl="0"/>
            <a:r>
              <a:rPr b="1"/>
              <a:t>Umsetzung 2 (Budget):</a:t>
            </a:r>
            <a:r>
              <a:rPr/>
              <a:t> Startbudget von 1000$ verhindert das planlose Anordnen aller Tests (“Shotgun-Testing”) und zwingt zu bewussten Entscheidungen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Fading (Dynamische Schwierigkeit)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Schrittweiser Abbau der Unterstützung bei zunehmender Kompetenz der Lernenden</a:t>
            </a:r>
          </a:p>
          <a:p>
            <a:pPr lvl="0"/>
            <a:r>
              <a:rPr b="1"/>
              <a:t>Umsetzung:</a:t>
            </a:r>
            <a:r>
              <a:rPr/>
              <a:t> Das Startbudget sinkt pro gelöstem Fall um 100$ (von 1000$ auf bis zu 500$)</a:t>
            </a:r>
          </a:p>
          <a:p>
            <a:pPr lvl="0"/>
            <a:r>
              <a:rPr b="1"/>
              <a:t>Effekt:</a:t>
            </a:r>
            <a:r>
              <a:rPr/>
              <a:t> Level 1 (Fehlertolerant) bis Level 6 (Erfordert Experten-Präzision)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Active Experimentation (Experiential Learning)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Lernende testen Hypothesen in sicherer Umgebung (Kolb)</a:t>
            </a:r>
          </a:p>
          <a:p>
            <a:pPr lvl="0"/>
            <a:r>
              <a:rPr b="1"/>
              <a:t>Umsetzung:</a:t>
            </a:r>
            <a:r>
              <a:rPr/>
              <a:t> Freier Wechsel zwischen Anamnese und Diagnostik ohne Strafe</a:t>
            </a:r>
          </a:p>
          <a:p>
            <a:pPr lvl="0"/>
            <a:r>
              <a:rPr b="1"/>
              <a:t>Nutzen:</a:t>
            </a:r>
            <a:r>
              <a:rPr/>
              <a:t> Fördert hypothesengetriebenes Erkunden statt Angst vor Fehlern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hasCustomPrompt="1" type="ctrTitle"/>
          </p:nvPr>
        </p:nvSpPr>
        <p:spPr>
          <a:xfrm>
            <a:off x="1530728" y="2160001"/>
            <a:ext cx="10252761" cy="15314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Feedback, Assessment &amp; Analytics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Formatives Feedback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Iteratives Feedback </a:t>
            </a:r>
            <a:r>
              <a:rPr i="1"/>
              <a:t>während</a:t>
            </a:r>
            <a:r>
              <a:rPr/>
              <a:t> des Lernprozesses (Black &amp; Wiliam, 1998)</a:t>
            </a:r>
          </a:p>
          <a:p>
            <a:pPr lvl="0"/>
            <a:r>
              <a:rPr b="1"/>
              <a:t>Umsetzung:</a:t>
            </a:r>
            <a:r>
              <a:rPr/>
              <a:t> Bei falscher Diagnose erklärt das System den Fehler und zeigt irrelevante Tests auf</a:t>
            </a:r>
          </a:p>
          <a:p>
            <a:pPr lvl="0"/>
            <a:r>
              <a:rPr b="1"/>
              <a:t>Kerndesign:</a:t>
            </a:r>
            <a:r>
              <a:rPr/>
              <a:t> Simulation endet nicht bei Misserfolg — der Button </a:t>
            </a:r>
            <a:r>
              <a:rPr b="1"/>
              <a:t>“Return to Patient”</a:t>
            </a:r>
            <a:r>
              <a:rPr/>
              <a:t> ermöglicht einen neuen Versuch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Summatives Assessment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Abschließende Bewertung im Vergleich zu einem Benchmark (Scriven, 1967)</a:t>
            </a:r>
          </a:p>
          <a:p>
            <a:pPr lvl="0"/>
            <a:r>
              <a:rPr b="1"/>
              <a:t>Bewertungssystem (100 Punkte):</a:t>
            </a:r>
          </a:p>
          <a:p>
            <a:pPr lvl="1"/>
            <a:r>
              <a:rPr b="1"/>
              <a:t>60 Punkte:</a:t>
            </a:r>
            <a:r>
              <a:rPr/>
              <a:t> Korrekte Diagnose</a:t>
            </a:r>
          </a:p>
          <a:p>
            <a:pPr lvl="1"/>
            <a:r>
              <a:rPr b="1"/>
              <a:t>40 Punkte:</a:t>
            </a:r>
            <a:r>
              <a:rPr/>
              <a:t> Diagnostische Effizienz (-15 pro irrelevanter Test)</a:t>
            </a:r>
          </a:p>
          <a:p>
            <a:pPr lvl="0"/>
            <a:r>
              <a:rPr b="1"/>
              <a:t>Vorteil:</a:t>
            </a:r>
            <a:r>
              <a:rPr/>
              <a:t> Spiegelt die reale Medizin wider, in der unnötige Tests Ressourcen binden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Analytics (Dashboard)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Theorie:</a:t>
            </a:r>
            <a:r>
              <a:rPr/>
              <a:t> Messung von Lernerdaten zur Optimierung des Lernverhaltens (Siemens &amp; Long, 2011)</a:t>
            </a:r>
          </a:p>
          <a:p>
            <a:pPr lvl="0"/>
            <a:r>
              <a:rPr b="1"/>
              <a:t>Umsetzung:</a:t>
            </a:r>
            <a:r>
              <a:rPr/>
              <a:t> Speicherung von 3 Kernmetriken im </a:t>
            </a:r>
            <a:r>
              <a:rPr>
                <a:latin typeface="Courier"/>
              </a:rPr>
              <a:t>localStorage</a:t>
            </a:r>
            <a:r>
              <a:rPr/>
              <a:t>:</a:t>
            </a:r>
          </a:p>
          <a:p>
            <a:pPr lvl="1" indent="-457204" marL="914407">
              <a:buAutoNum type="arabicPeriod"/>
            </a:pPr>
            <a:r>
              <a:rPr/>
              <a:t>Gelöste Fälle</a:t>
            </a:r>
          </a:p>
          <a:p>
            <a:pPr lvl="1" indent="-457204" marL="914407">
              <a:buAutoNum type="arabicPeriod"/>
            </a:pPr>
            <a:r>
              <a:rPr/>
              <a:t>Durchschnittliche Punktzahl</a:t>
            </a:r>
          </a:p>
          <a:p>
            <a:pPr lvl="1" indent="-457204" marL="914407">
              <a:buAutoNum type="arabicPeriod"/>
            </a:pPr>
            <a:r>
              <a:rPr/>
              <a:t>Verschwendetes Budget</a:t>
            </a:r>
          </a:p>
          <a:p>
            <a:pPr lvl="0"/>
            <a:r>
              <a:rPr b="1"/>
              <a:t>Zusatz:</a:t>
            </a:r>
            <a:r>
              <a:rPr/>
              <a:t> Zeigt den aktuellen “Fading”-Schwierigkeitsgrad an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hasCustomPrompt="1" type="ctrTitle"/>
          </p:nvPr>
        </p:nvSpPr>
        <p:spPr>
          <a:xfrm>
            <a:off x="1530728" y="2160001"/>
            <a:ext cx="10252761" cy="15314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Abschluss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 &amp; Zusammenfassung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hasCustomPrompt="1" idx="13"/>
          </p:nvPr>
        </p:nvSpPr>
        <p:spPr/>
        <p:txBody>
          <a:bodyPr/>
          <a:lstStyle/>
          <a:p>
            <a:pPr lvl="0"/>
            <a:r>
              <a:rPr b="1"/>
              <a:t>Die Simulation vereint:</a:t>
            </a:r>
          </a:p>
          <a:p>
            <a:pPr lvl="1"/>
            <a:r>
              <a:rPr/>
              <a:t>Problem-Based Learning</a:t>
            </a:r>
          </a:p>
          <a:p>
            <a:pPr lvl="1"/>
            <a:r>
              <a:rPr/>
              <a:t>Cognitive Apprenticeship</a:t>
            </a:r>
          </a:p>
          <a:p>
            <a:pPr lvl="1"/>
            <a:r>
              <a:rPr/>
              <a:t>Active Experimentation</a:t>
            </a:r>
          </a:p>
          <a:p>
            <a:pPr lvl="1"/>
            <a:r>
              <a:rPr/>
              <a:t>Formatives &amp; Summatives Assessment</a:t>
            </a:r>
          </a:p>
          <a:p>
            <a:pPr lvl="1"/>
            <a:r>
              <a:rPr/>
              <a:t>Learning Analytics</a:t>
            </a:r>
          </a:p>
          <a:p>
            <a:pPr lvl="0"/>
            <a:r>
              <a:rPr b="1"/>
              <a:t>Nächste Schritte / Future Work:</a:t>
            </a:r>
            <a:r>
              <a:rPr/>
              <a:t> Erweiterung der Fälle, Dozenten-Dashboard</a:t>
            </a:r>
          </a:p>
          <a:p>
            <a:pPr lvl="0"/>
            <a:r>
              <a:rPr b="1"/>
              <a:t>Vielen Dank für die Aufmerksamkeit!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dirty="0" err="1" lang="de-DE"/>
              <a:t>TechCampus</a:t>
            </a:r>
            <a:endParaRPr dirty="0" lang="de-DE"/>
          </a:p>
        </p:txBody>
      </p:sp>
      <p:sp>
        <p:nvSpPr>
          <p:cNvPr id="8" name="Fußzeilenplatzhalt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Thema des Referats | Referent / Fakultät / Studiengang |  WiSe/SoSe 2017/19</a:t>
            </a:r>
            <a:endParaRPr dirty="0" lang="de-DE"/>
          </a:p>
        </p:txBody>
      </p:sp>
      <p:sp>
        <p:nvSpPr>
          <p:cNvPr id="9" name="Foliennummernplatzhalt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PPT_HHN_16x9_DE_02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 | 40 | 150">
      <a:srgbClr val="002896"/>
    </a:custClr>
    <a:custClr name="0 | 159 | 213">
      <a:srgbClr val="009FD5"/>
    </a:custClr>
    <a:custClr name="0 | 114 |127">
      <a:srgbClr val="00727F"/>
    </a:custClr>
    <a:custClr name="255 | 158 | 0">
      <a:srgbClr val="FF9E00"/>
    </a:custClr>
    <a:custClr name="100 | 179 | 44">
      <a:srgbClr val="64B32C"/>
    </a:custClr>
    <a:custClr name="171 | 0 | 66">
      <a:srgbClr val="AB0042"/>
    </a:custClr>
    <a:custClr name="0 | 0 | 0">
      <a:srgbClr val="000000"/>
    </a:custClr>
    <a:custClr>
      <a:srgbClr val="FFFFFF"/>
    </a:custClr>
    <a:custClr name="255 | 255 | 255">
      <a:srgbClr val="FFFFFF"/>
    </a:custClr>
    <a:custClr name="255 | 255 | 255">
      <a:srgbClr val="FFFFFF"/>
    </a:custClr>
    <a:custClr name="102 | 126 | 192">
      <a:srgbClr val="667EC0"/>
    </a:custClr>
    <a:custClr name="96 | 198 | 239">
      <a:srgbClr val="60C6EF"/>
    </a:custClr>
    <a:custClr name="0 | 155 | 166">
      <a:srgbClr val="009BA6"/>
    </a:custClr>
    <a:custClr name="255 | 203 | 14">
      <a:srgbClr val="FFCB0E"/>
    </a:custClr>
    <a:custClr name="180 | 204 | 0">
      <a:srgbClr val="B4CC00"/>
    </a:custClr>
    <a:custClr name="220 | 55 | 105">
      <a:srgbClr val="DC3769"/>
    </a:custClr>
    <a:custClr name="116 | 116 | 116">
      <a:srgbClr val="747474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  <a:custClr name="153 | 168 | 214">
      <a:srgbClr val="99A8D6"/>
    </a:custClr>
    <a:custClr name="176 | 223 | 247">
      <a:srgbClr val="B0DFF7"/>
    </a:custClr>
    <a:custClr name="127 | 203 | 211">
      <a:srgbClr val="7FCBD3"/>
    </a:custClr>
    <a:custClr name="255 | 241 | 77">
      <a:srgbClr val="FFF14D"/>
    </a:custClr>
    <a:custClr name="234 | 228 | 72">
      <a:srgbClr val="EAE448"/>
    </a:custClr>
    <a:custClr name="235 | 142 | 178">
      <a:srgbClr val="EB8EB2"/>
    </a:custClr>
    <a:custClr name="188 | 188 | 188">
      <a:srgbClr val="BCBCBC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</a:custClrLst>
  <a:extLst>
    <a:ext uri="{05A4C25C-085E-4340-85A3-A5531E510DB2}">
      <thm15:themeFamily xmlns:thm15="http://schemas.microsoft.com/office/thememl/2012/main" name="PPT_HHN_16x9_DE_02_2025.potx" id="{6FC0635A-1084-4FC9-87B6-361C6EEEC53C}" vid="{3DE367B2-8E14-4FDD-A8A3-EF4540EC09A1}"/>
    </a:ext>
  </a:extLst>
</a:theme>
</file>

<file path=ppt/theme/theme2.xml><?xml version="1.0" encoding="utf-8"?>
<a:theme xmlns:a="http://schemas.openxmlformats.org/drawingml/2006/main" name="1_PPT_HHN_16x9_DE_02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 | 40 | 150">
      <a:srgbClr val="002896"/>
    </a:custClr>
    <a:custClr name="0 | 159 | 213">
      <a:srgbClr val="009FD5"/>
    </a:custClr>
    <a:custClr name="0 | 114 |127">
      <a:srgbClr val="00727F"/>
    </a:custClr>
    <a:custClr name="255 | 158 | 0">
      <a:srgbClr val="FF9E00"/>
    </a:custClr>
    <a:custClr name="100 | 179 | 44">
      <a:srgbClr val="64B32C"/>
    </a:custClr>
    <a:custClr name="171 | 0 | 66">
      <a:srgbClr val="AB0042"/>
    </a:custClr>
    <a:custClr name="0 | 0 | 0">
      <a:srgbClr val="000000"/>
    </a:custClr>
    <a:custClr>
      <a:srgbClr val="FFFFFF"/>
    </a:custClr>
    <a:custClr name="255 | 255 | 255">
      <a:srgbClr val="FFFFFF"/>
    </a:custClr>
    <a:custClr name="255 | 255 | 255">
      <a:srgbClr val="FFFFFF"/>
    </a:custClr>
    <a:custClr name="102 | 126 | 192">
      <a:srgbClr val="667EC0"/>
    </a:custClr>
    <a:custClr name="96 | 198 | 239">
      <a:srgbClr val="60C6EF"/>
    </a:custClr>
    <a:custClr name="0 | 155 | 166">
      <a:srgbClr val="009BA6"/>
    </a:custClr>
    <a:custClr name="255 | 203 | 14">
      <a:srgbClr val="FFCB0E"/>
    </a:custClr>
    <a:custClr name="180 | 204 | 0">
      <a:srgbClr val="B4CC00"/>
    </a:custClr>
    <a:custClr name="220 | 55 | 105">
      <a:srgbClr val="DC3769"/>
    </a:custClr>
    <a:custClr name="116 | 116 | 116">
      <a:srgbClr val="747474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  <a:custClr name="153 | 168 | 214">
      <a:srgbClr val="99A8D6"/>
    </a:custClr>
    <a:custClr name="176 | 223 | 247">
      <a:srgbClr val="B0DFF7"/>
    </a:custClr>
    <a:custClr name="127 | 203 | 211">
      <a:srgbClr val="7FCBD3"/>
    </a:custClr>
    <a:custClr name="255 | 241 | 77">
      <a:srgbClr val="FFF14D"/>
    </a:custClr>
    <a:custClr name="234 | 228 | 72">
      <a:srgbClr val="EAE448"/>
    </a:custClr>
    <a:custClr name="235 | 142 | 178">
      <a:srgbClr val="EB8EB2"/>
    </a:custClr>
    <a:custClr name="188 | 188 | 188">
      <a:srgbClr val="BCBCBC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</a:custClrLst>
  <a:extLst>
    <a:ext uri="{05A4C25C-085E-4340-85A3-A5531E510DB2}">
      <thm15:themeFamily xmlns:thm15="http://schemas.microsoft.com/office/thememl/2012/main" name="PPT_HHN_16x9_DE_02_2025.potx" id="{6FC0635A-1084-4FC9-87B6-361C6EEEC53C}" vid="{0CE023B4-490B-4AC0-A905-2B284D616F14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1160</Words>
  <Application>Microsoft Office PowerPoint</Application>
  <PresentationFormat>Breitbild</PresentationFormat>
  <Paragraphs>217</Paragraphs>
  <Slides>21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Wingdings</vt:lpstr>
      <vt:lpstr>PPT_HHN_16x9_DE_02</vt:lpstr>
      <vt:lpstr>1_PPT_HHN_16x9_DE_02</vt:lpstr>
      <vt:lpstr>HIER STEHT DIE HEADLINE</vt:lpstr>
      <vt:lpstr>HIER STEHT DIE HEADLINE</vt:lpstr>
      <vt:lpstr>HIER STEHT DIE HEADLINE</vt:lpstr>
      <vt:lpstr>HIER STEHT DIE HEADLINE</vt:lpstr>
      <vt:lpstr>ZWISCHENTITEL TRENNERSEITE</vt:lpstr>
      <vt:lpstr>Listenebenen durchschalten Menü &gt; Start &gt; Absatz &gt; Listenebne erhöhen</vt:lpstr>
      <vt:lpstr>VELIQUI TOTD ESTE TEM UTPLITINV</vt:lpstr>
      <vt:lpstr>VELIQUI TOTD ESTE TEM UTPLITINV</vt:lpstr>
      <vt:lpstr>VELIQUI TOTD ESTE TEM UTPLITINV</vt:lpstr>
      <vt:lpstr>VELIQUI TOTD ESTE TEM UTPLITINV</vt:lpstr>
      <vt:lpstr>VELIQUI TOTD ESTE TEM UTPLITINV</vt:lpstr>
      <vt:lpstr>PowerPoint-Präsentation</vt:lpstr>
      <vt:lpstr>VELIQUI TOTD ESTE TEM UTPLITINV</vt:lpstr>
      <vt:lpstr>VELIQUI TOTD ESTE TEM UTPLITINV</vt:lpstr>
      <vt:lpstr>VELIQUI TOTD ESTE TEM UTPLITINV</vt:lpstr>
      <vt:lpstr>VELIQUI TOTD ESTE TEM UTPLITINV</vt:lpstr>
      <vt:lpstr>VELIQUI TOTD ESTE TEM UTPLITINV</vt:lpstr>
      <vt:lpstr>VELIQUI TOTD ESTE TEM UTPLITINV</vt:lpstr>
      <vt:lpstr>VELIQUI TOTD ESTE TEM UTPLITINV</vt:lpstr>
      <vt:lpstr>PowerPoint-Präsentation</vt:lpstr>
      <vt:lpstr>PowerPoint-Präsentation</vt:lpstr>
    </vt:vector>
  </TitlesOfParts>
  <Company>Hochschule Heilbronn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Simulation — An eLearning Course for Medical Students</dc:title>
  <dc:creator>Educational Technologies SoSe 2026</dc:creator>
  <cp:keywords/>
  <dcterms:created xsi:type="dcterms:W3CDTF">2026-05-11T08:18:05Z</dcterms:created>
  <dcterms:modified xsi:type="dcterms:W3CDTF">2026-05-11T08:18:05Z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